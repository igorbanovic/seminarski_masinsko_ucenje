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620"/>
    <p:restoredTop sz="94660"/>
  </p:normalViewPr>
  <p:slideViewPr>
    <p:cSldViewPr snapToGrid="0" snapToObjects="1">
      <p:cViewPr>
        <p:scale>
          <a:sx n="174" d="100"/>
          <a:sy n="174" d="100"/>
        </p:scale>
        <p:origin x="-48" y="2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80169"/>
            <a:ext cx="7772400" cy="1967235"/>
          </a:xfrm>
        </p:spPr>
        <p:txBody>
          <a:bodyPr>
            <a:normAutofit fontScale="90000"/>
          </a:bodyPr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Identifikacija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šća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čilija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korišćenjem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CLAHE i k-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srednjih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vrijednosti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Sadržaj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Uvod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500" dirty="0">
                <a:latin typeface="Times New Roman" pitchFamily="18" charset="0"/>
                <a:cs typeface="Times New Roman" pitchFamily="18" charset="0"/>
              </a:rPr>
              <a:t>Problem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motivacija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Cilj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doprinos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rada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Pregled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istraživačkog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rada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(CLAHE, k-means, SVM)</a:t>
            </a:r>
          </a:p>
          <a:p>
            <a:pPr>
              <a:buFont typeface="Wingdings" pitchFamily="2" charset="2"/>
              <a:buChar char="Ø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Analiza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rezultata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Ograničenja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moguća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poboljšanja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Zaključak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Ø"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Prijedlog projekta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Uvod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biljaka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značajno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utiču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prinos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kvalitet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ekonomsku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isplativost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poljoprivrede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>
                <a:latin typeface="Times New Roman" pitchFamily="18" charset="0"/>
                <a:cs typeface="Times New Roman" pitchFamily="18" charset="0"/>
              </a:rPr>
              <a:t>List je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glavni pokazatelj bolesti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posebno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kod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čilija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Tradicionaln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 metode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su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spor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subjektivn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nepraktičn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velike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površine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Razvoj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obrade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slike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mašinskog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učenja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omogućava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automatizovanu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brzu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pouzdanu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identifikaciju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sz="25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ad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koristi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kombinaciju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CLAHE, k-means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segmentacije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SVM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klasifikacije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prepoznavanje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šća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čilija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Problem i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motivacija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lišća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čili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paprike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antraknoza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bakterijska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pjegavost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plamenjača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pepelnica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smanjuju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prinos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kvalitet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narušavaju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fotosintezu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usporavaju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rast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mogu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dovesti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potpunog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propadanja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biljke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Gubici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pogađaju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proizvođače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tržište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dostupnost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proizvoda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Ručna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inspekcija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je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spora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nepraktična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intenzivnoj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proizvodnji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273" y="653013"/>
            <a:ext cx="8229600" cy="562756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sz="2500" dirty="0" err="1">
                <a:latin typeface="Times New Roman" pitchFamily="18" charset="0"/>
                <a:cs typeface="Times New Roman" pitchFamily="18" charset="0"/>
              </a:rPr>
              <a:t>Vizuelna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dijagnostika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otežana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je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zbog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različitog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osvjetljenja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tokom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fotografisanja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sličnih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simptoma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različitih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preklapanja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oštećenja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šća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koja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nisu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patološka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različitih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boja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tekstura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pozadine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promjena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uzrokovanih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starošću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lista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štetočinama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 i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			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uslovima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>
                <a:latin typeface="Times New Roman" pitchFamily="18" charset="0"/>
                <a:cs typeface="Times New Roman" pitchFamily="18" charset="0"/>
              </a:rPr>
              <a:t>okoline</a:t>
            </a:r>
            <a:r>
              <a:rPr lang="en-US" sz="25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sz="25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Potrebn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su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automatizovan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metode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 smtClean="0">
                <a:latin typeface="Times New Roman" pitchFamily="18" charset="0"/>
                <a:cs typeface="Times New Roman" pitchFamily="18" charset="0"/>
              </a:rPr>
              <a:t>koj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e mogu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tačno da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razlikuju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zdravo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oboljelo</a:t>
            </a:r>
            <a:r>
              <a:rPr sz="25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500" dirty="0" err="1">
                <a:latin typeface="Times New Roman" pitchFamily="18" charset="0"/>
                <a:cs typeface="Times New Roman" pitchFamily="18" charset="0"/>
              </a:rPr>
              <a:t>lišće</a:t>
            </a:r>
            <a:r>
              <a:rPr sz="25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5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sr-Latn-RS" sz="250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sz="2500" dirty="0" smtClean="0">
                <a:latin typeface="Times New Roman" pitchFamily="18" charset="0"/>
                <a:cs typeface="Times New Roman" pitchFamily="18" charset="0"/>
              </a:rPr>
              <a:t>Najčešće bolesti lišća i njihovi simptomi</a:t>
            </a:r>
            <a:endParaRPr sz="25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32" y="1321633"/>
            <a:ext cx="2169738" cy="150876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216" y="1321633"/>
            <a:ext cx="2159634" cy="15087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94" y="3923540"/>
            <a:ext cx="2338578" cy="15087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9588" y="3923540"/>
            <a:ext cx="2339654" cy="15087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809" y="1321633"/>
            <a:ext cx="2153161" cy="150876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  <p:sp>
        <p:nvSpPr>
          <p:cNvPr id="12" name="TextBox 11"/>
          <p:cNvSpPr txBox="1"/>
          <p:nvPr/>
        </p:nvSpPr>
        <p:spPr>
          <a:xfrm>
            <a:off x="1431710" y="1018993"/>
            <a:ext cx="1136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Zdravo Lišće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38870" y="1018993"/>
            <a:ext cx="10230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Antraknoza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42045" y="1013856"/>
            <a:ext cx="17379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Bakterijska pjegavost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77873" y="3615762"/>
            <a:ext cx="10134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Plamenjača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89135" y="3615763"/>
            <a:ext cx="8835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r-Latn-RS" sz="1400" dirty="0" smtClean="0">
                <a:latin typeface="Times New Roman" pitchFamily="18" charset="0"/>
                <a:cs typeface="Times New Roman" pitchFamily="18" charset="0"/>
              </a:rPr>
              <a:t>Pepelnica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177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Cilj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doprinos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rada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azvoj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sistema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automatsk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identifikaciju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šća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čilija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osnovu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slike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kombinovanjem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	•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poboljšanja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kontrasta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CLAHE,</a:t>
            </a:r>
          </a:p>
          <a:p>
            <a:pPr marL="0" indent="0">
              <a:buNone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segmentacije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oboljelog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područja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k-means  </a:t>
            </a:r>
          </a:p>
          <a:p>
            <a:pPr marL="0" indent="0">
              <a:buNone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klasifikacije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vrste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– SVM model.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 smtClean="0">
                <a:latin typeface="Times New Roman" pitchFamily="18" charset="0"/>
                <a:cs typeface="Times New Roman" pitchFamily="18" charset="0"/>
              </a:rPr>
              <a:t>Doprinosi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integracija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više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tehnika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jedinstven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sistem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evaluacija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Kaggle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skupu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podataka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postizanje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tačnosti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preko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97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%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konkurentnost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savremenim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pristupima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Relevantnost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istra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živanja ogleda se u tome da klasične metode obrade slike imaju i dalje veliku primjenu u slučajevima gdje nedostaju veliki datasetovi potrebni za duboko učenje.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Pregled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istraživačkog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rada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Istraživanje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obuhvata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faze: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prikupljanje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podataka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predobrada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slika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segmentacija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ekstrakcija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karakteristika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klasifikacija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evaluacija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 smtClean="0">
                <a:latin typeface="Times New Roman" pitchFamily="18" charset="0"/>
                <a:cs typeface="Times New Roman" pitchFamily="18" charset="0"/>
              </a:rPr>
              <a:t>Korišćen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su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tri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klase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šća iz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Kaggle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zdrav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 lišće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li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šće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zaražen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antraknozom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li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šće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zaražen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bakterijskom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pjegavošću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Dataset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je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balansiran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da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svaka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ima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približno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broj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slika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što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poboljšava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stabilnost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treninga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14033"/>
            <a:ext cx="8229600" cy="5543279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sr-Latn-RS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azličite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podjele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trening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/test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skupa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Dat je pregled dostupnih metoda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>
                <a:latin typeface="Times New Roman" pitchFamily="18" charset="0"/>
                <a:cs typeface="Times New Roman" pitchFamily="18" charset="0"/>
              </a:rPr>
              <a:t>klasične tehnike obrade slike,</a:t>
            </a:r>
          </a:p>
          <a:p>
            <a:pPr marL="0" indent="0">
              <a:buNone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>
                <a:latin typeface="Times New Roman" pitchFamily="18" charset="0"/>
                <a:cs typeface="Times New Roman" pitchFamily="18" charset="0"/>
              </a:rPr>
              <a:t>metode ML-a (KNN, SVM, ANN),</a:t>
            </a:r>
          </a:p>
          <a:p>
            <a:pPr marL="0" indent="0">
              <a:buNone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>
                <a:latin typeface="Times New Roman" pitchFamily="18" charset="0"/>
                <a:cs typeface="Times New Roman" pitchFamily="18" charset="0"/>
              </a:rPr>
              <a:t>savremena CNN arhitektura (EfficientNet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sr-Latn-R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 smtClean="0">
                <a:latin typeface="Times New Roman" pitchFamily="18" charset="0"/>
                <a:cs typeface="Times New Roman" pitchFamily="18" charset="0"/>
              </a:rPr>
              <a:t>Naglasak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je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jednostavnosti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računarskoj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efikasnosti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odnosu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duboke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modele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Sistem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je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lak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za implementaciju, CLAHE+k-means+ SVM daje visok nivo tačnosti na malom datasetu i rezultati su jasni i ponovljivi.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>
                <a:latin typeface="Times New Roman" pitchFamily="18" charset="0"/>
                <a:cs typeface="Times New Roman" pitchFamily="18" charset="0"/>
              </a:rPr>
              <a:t>Metod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e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045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sr-Latn-RS" sz="2300" dirty="0">
                <a:latin typeface="Times New Roman" pitchFamily="18" charset="0"/>
                <a:cs typeface="Times New Roman" pitchFamily="18" charset="0"/>
              </a:rPr>
              <a:t>M</a:t>
            </a:r>
            <a:r>
              <a:rPr sz="2300" dirty="0" err="1" smtClean="0">
                <a:latin typeface="Times New Roman" pitchFamily="18" charset="0"/>
                <a:cs typeface="Times New Roman" pitchFamily="18" charset="0"/>
              </a:rPr>
              <a:t>etodologija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dirty="0" err="1">
                <a:latin typeface="Times New Roman" pitchFamily="18" charset="0"/>
                <a:cs typeface="Times New Roman" pitchFamily="18" charset="0"/>
              </a:rPr>
              <a:t>rada</a:t>
            </a:r>
            <a:r>
              <a:rPr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dirty="0" err="1">
                <a:latin typeface="Times New Roman" pitchFamily="18" charset="0"/>
                <a:cs typeface="Times New Roman" pitchFamily="18" charset="0"/>
              </a:rPr>
              <a:t>sastoji</a:t>
            </a:r>
            <a:r>
              <a:rPr sz="2300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sz="2300" dirty="0" err="1">
                <a:latin typeface="Times New Roman" pitchFamily="18" charset="0"/>
                <a:cs typeface="Times New Roman" pitchFamily="18" charset="0"/>
              </a:rPr>
              <a:t>iz</a:t>
            </a:r>
            <a:r>
              <a:rPr sz="2300" dirty="0">
                <a:latin typeface="Times New Roman" pitchFamily="18" charset="0"/>
                <a:cs typeface="Times New Roman" pitchFamily="18" charset="0"/>
              </a:rPr>
              <a:t> tri </a:t>
            </a:r>
            <a:r>
              <a:rPr sz="2300" dirty="0" err="1">
                <a:latin typeface="Times New Roman" pitchFamily="18" charset="0"/>
                <a:cs typeface="Times New Roman" pitchFamily="18" charset="0"/>
              </a:rPr>
              <a:t>glavne</a:t>
            </a:r>
            <a:r>
              <a:rPr sz="2300" dirty="0">
                <a:latin typeface="Times New Roman" pitchFamily="18" charset="0"/>
                <a:cs typeface="Times New Roman" pitchFamily="18" charset="0"/>
              </a:rPr>
              <a:t> faze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sz="23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CLAHE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poboljšanje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kontrast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K-means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sz="2300" dirty="0" err="1">
                <a:latin typeface="Times New Roman" pitchFamily="18" charset="0"/>
                <a:cs typeface="Times New Roman" pitchFamily="18" charset="0"/>
              </a:rPr>
              <a:t>segmentacija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izdvajanje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ROI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sz="23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SVM </a:t>
            </a:r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klasifikacija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300" dirty="0" err="1" smtClean="0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lang="en-US" sz="2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2300" dirty="0"/>
          </a:p>
          <a:p>
            <a:pPr>
              <a:buFont typeface="Wingdings" pitchFamily="2" charset="2"/>
              <a:buChar char="v"/>
            </a:pPr>
            <a:r>
              <a:rPr sz="2300" dirty="0" err="1" smtClean="0">
                <a:latin typeface="Times New Roman" pitchFamily="18" charset="0"/>
                <a:cs typeface="Times New Roman" pitchFamily="18" charset="0"/>
              </a:rPr>
              <a:t>Kombinacija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dirty="0" err="1">
                <a:latin typeface="Times New Roman" pitchFamily="18" charset="0"/>
                <a:cs typeface="Times New Roman" pitchFamily="18" charset="0"/>
              </a:rPr>
              <a:t>ovih</a:t>
            </a:r>
            <a:r>
              <a:rPr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tehnika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čini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efikasan postupak za </a:t>
            </a:r>
            <a:r>
              <a:rPr sz="2300" dirty="0" err="1" smtClean="0">
                <a:latin typeface="Times New Roman" pitchFamily="18" charset="0"/>
                <a:cs typeface="Times New Roman" pitchFamily="18" charset="0"/>
              </a:rPr>
              <a:t>identifikaciju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300"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sz="23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sz="2300" dirty="0" smtClean="0">
                <a:latin typeface="Times New Roman" pitchFamily="18" charset="0"/>
                <a:cs typeface="Times New Roman" pitchFamily="18" charset="0"/>
              </a:rPr>
              <a:t>lišća čilija</a:t>
            </a:r>
            <a:r>
              <a:rPr sz="23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sz="23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817871" y="4594478"/>
            <a:ext cx="960120" cy="6083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000" dirty="0" smtClean="0"/>
              <a:t>Slika iz baze podataka</a:t>
            </a:r>
            <a:endParaRPr lang="en-US" sz="1000" dirty="0"/>
          </a:p>
        </p:txBody>
      </p:sp>
      <p:sp>
        <p:nvSpPr>
          <p:cNvPr id="5" name="Rectangle 4"/>
          <p:cNvSpPr/>
          <p:nvPr/>
        </p:nvSpPr>
        <p:spPr>
          <a:xfrm>
            <a:off x="3854323" y="4590215"/>
            <a:ext cx="960120" cy="60838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000" dirty="0" smtClean="0"/>
              <a:t>CLAHE</a:t>
            </a:r>
            <a:endParaRPr 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5952708" y="4590216"/>
            <a:ext cx="960120" cy="6126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000" dirty="0" smtClean="0"/>
              <a:t>Poboljšanje kontrasta</a:t>
            </a:r>
            <a:endParaRPr lang="en-US" sz="1000" dirty="0"/>
          </a:p>
        </p:txBody>
      </p:sp>
      <p:sp>
        <p:nvSpPr>
          <p:cNvPr id="7" name="Rectangle 6"/>
          <p:cNvSpPr/>
          <p:nvPr/>
        </p:nvSpPr>
        <p:spPr>
          <a:xfrm>
            <a:off x="1817871" y="5616930"/>
            <a:ext cx="960120" cy="6126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000" dirty="0" smtClean="0"/>
              <a:t>K-means Klasterovanje</a:t>
            </a:r>
            <a:endParaRPr lang="en-US" sz="1000" dirty="0"/>
          </a:p>
        </p:txBody>
      </p:sp>
      <p:sp>
        <p:nvSpPr>
          <p:cNvPr id="8" name="Rectangle 7"/>
          <p:cNvSpPr/>
          <p:nvPr/>
        </p:nvSpPr>
        <p:spPr>
          <a:xfrm>
            <a:off x="3856327" y="5617549"/>
            <a:ext cx="958116" cy="61202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000" dirty="0" smtClean="0"/>
              <a:t>Izračunavanje ROI</a:t>
            </a:r>
            <a:endParaRPr lang="en-US" sz="1000" dirty="0"/>
          </a:p>
        </p:txBody>
      </p:sp>
      <p:sp>
        <p:nvSpPr>
          <p:cNvPr id="9" name="Rectangle 8"/>
          <p:cNvSpPr/>
          <p:nvPr/>
        </p:nvSpPr>
        <p:spPr>
          <a:xfrm>
            <a:off x="5952708" y="5599025"/>
            <a:ext cx="960120" cy="61264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r-Latn-RS" sz="1000" dirty="0" smtClean="0"/>
              <a:t>Klasifikacija</a:t>
            </a:r>
            <a:endParaRPr lang="en-US" sz="1000" dirty="0"/>
          </a:p>
        </p:txBody>
      </p:sp>
      <p:sp>
        <p:nvSpPr>
          <p:cNvPr id="10" name="Right Arrow 9"/>
          <p:cNvSpPr/>
          <p:nvPr/>
        </p:nvSpPr>
        <p:spPr>
          <a:xfrm>
            <a:off x="2777991" y="4730472"/>
            <a:ext cx="1078336" cy="32787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4814443" y="4713478"/>
            <a:ext cx="1138265" cy="366124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2777991" y="5750519"/>
            <a:ext cx="1078336" cy="34608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4814443" y="5750519"/>
            <a:ext cx="1138265" cy="346088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>
                <a:latin typeface="Times New Roman" pitchFamily="18" charset="0"/>
                <a:cs typeface="Times New Roman" pitchFamily="18" charset="0"/>
              </a:rPr>
              <a:t>CLAHE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sr-Latn-RS" dirty="0" err="1">
                <a:latin typeface="Times New Roman" pitchFamily="18" charset="0"/>
                <a:cs typeface="Times New Roman" pitchFamily="18" charset="0"/>
              </a:rPr>
              <a:t>S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lika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se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dijeli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manje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blokove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vrši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lokaln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 izjednačavanje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histogram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a.</a:t>
            </a:r>
          </a:p>
          <a:p>
            <a:pPr marL="0" indent="0">
              <a:buNone/>
            </a:pPr>
            <a:endParaRPr lang="sr-Latn-RS" dirty="0" smtClean="0"/>
          </a:p>
          <a:p>
            <a:pPr marL="0" indent="0">
              <a:buNone/>
            </a:pPr>
            <a:endParaRPr lang="sr-Latn-RS" dirty="0" smtClean="0"/>
          </a:p>
          <a:p>
            <a:pPr marL="0" indent="0">
              <a:buNone/>
            </a:pPr>
            <a:endParaRPr lang="sr-Latn-RS" dirty="0" smtClean="0"/>
          </a:p>
          <a:p>
            <a:pPr marL="0" indent="0">
              <a:buNone/>
            </a:pPr>
            <a:endParaRPr lang="sr-Latn-RS" dirty="0" smtClean="0"/>
          </a:p>
          <a:p>
            <a:pPr marL="0" indent="0">
              <a:buNone/>
            </a:pPr>
            <a:endParaRPr lang="sr-Latn-RS" dirty="0" smtClean="0"/>
          </a:p>
          <a:p>
            <a:pPr>
              <a:buFont typeface="Wingdings" pitchFamily="2" charset="2"/>
              <a:buChar char="v"/>
            </a:pPr>
            <a:r>
              <a:rPr lang="sr-Latn-RS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vodi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se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ograničenje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kontrasta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(clip limit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akon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obrade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blokovi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spajaju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interpolacijom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Rezultat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bolja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vidljivost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promjena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listu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lakša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kasnija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segmentacija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609" y="2296323"/>
            <a:ext cx="1702202" cy="127101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663" y="2297001"/>
            <a:ext cx="1668507" cy="127033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  <a:softEdge rad="3175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>
                <a:latin typeface="Times New Roman" pitchFamily="18" charset="0"/>
                <a:cs typeface="Times New Roman" pitchFamily="18" charset="0"/>
              </a:rPr>
              <a:t>K-means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K-means se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koristi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izdvajanje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regije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od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interesa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(ROI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oboljelog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dijela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lista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Postupak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nasumičan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odabir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početnih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centroida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dodjel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svakog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piksela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najbližem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centru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ažuriranje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centroida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iter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iranje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do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konvergencije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lvl="1">
              <a:buFont typeface="Arial" pitchFamily="34" charset="0"/>
              <a:buChar char="•"/>
            </a:pPr>
            <a:r>
              <a:rPr lang="sr-Latn-RS" sz="3200" dirty="0" smtClean="0">
                <a:latin typeface="Times New Roman" pitchFamily="18" charset="0"/>
                <a:cs typeface="Times New Roman" pitchFamily="18" charset="0"/>
              </a:rPr>
              <a:t>izdvajnje klastera koji predstavljaju zahvaćena područja</a:t>
            </a:r>
          </a:p>
          <a:p>
            <a:pPr marL="457200" lvl="1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Ova segmentacija je ključna jer omogućava da SVM u sledećoj fazi radi nad jasno definisanim i vizuelno dosljednim karakteristikama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>
                <a:latin typeface="Times New Roman" pitchFamily="18" charset="0"/>
                <a:cs typeface="Times New Roman" pitchFamily="18" charset="0"/>
              </a:rPr>
              <a:t>SVM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SVM (Support Vector Machine)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traži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hiperravan na način da je rastojanje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između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hiperravni i najbližih uzoraka iz svake klase maksimalno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Najbliži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uzorci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se nazivaju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support vectors i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određuju konačnu poziciju granice razdvajanja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radu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koristi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linearni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kernel –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nakon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CLAHE i k-means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segmentacije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dovoljno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dobro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razdvojive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SVM je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posebno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pogodan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manje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ove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daje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stabilne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rezultate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binarnoj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višeklasnoj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klasifikaciji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r>
              <a:rPr dirty="0">
                <a:latin typeface="Times New Roman" pitchFamily="18" charset="0"/>
                <a:cs typeface="Times New Roman" pitchFamily="18" charset="0"/>
              </a:rPr>
              <a:t>Na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osnovu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vektora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karakteristika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model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odlučuje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kojoj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zdravo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antraknoza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bakterijska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pjegavost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pripada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slika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Analiza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rezultata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Tačnost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klasifikacije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bolestima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	• 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antraknoza</a:t>
            </a: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96.99 %,</a:t>
            </a:r>
          </a:p>
          <a:p>
            <a:pPr marL="0" indent="0">
              <a:buNone/>
            </a:pP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	• 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bakterijska pjegavost</a:t>
            </a:r>
            <a:r>
              <a:rPr lang="pl-PL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pl-PL" dirty="0">
                <a:latin typeface="Times New Roman" pitchFamily="18" charset="0"/>
                <a:cs typeface="Times New Roman" pitchFamily="18" charset="0"/>
              </a:rPr>
              <a:t>97.08 %.</a:t>
            </a: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Model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ostvaruje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sličnu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uspješnost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err="1">
                <a:latin typeface="Times New Roman" pitchFamily="18" charset="0"/>
                <a:cs typeface="Times New Roman" pitchFamily="18" charset="0"/>
              </a:rPr>
              <a:t>z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obje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što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pokazuje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stabilnost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segmentacije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klasifikacije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CLAHE + k-means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omogućava prepoznatljive i stabilne karakteristike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SVM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klasifikator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Ukupna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tačnost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različitim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podjelama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trening/test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skupa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70/30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99.3 %,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60/40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97.03 %.</a:t>
            </a: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0464"/>
            <a:ext cx="8229600" cy="5481348"/>
          </a:xfrm>
        </p:spPr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dirty="0" err="1" smtClean="0">
                <a:latin typeface="Times New Roman" pitchFamily="18" charset="0"/>
                <a:cs typeface="Times New Roman" pitchFamily="18" charset="0"/>
              </a:rPr>
              <a:t>Poređenje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drugim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metodama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GLCM: 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90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%,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klasični SVM: 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93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%,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• DL: 95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%,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• ML: 89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%,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• CLAHE </a:t>
            </a:r>
            <a:r>
              <a:rPr lang="vi-VN" dirty="0">
                <a:latin typeface="Times New Roman" pitchFamily="18" charset="0"/>
                <a:cs typeface="Times New Roman" pitchFamily="18" charset="0"/>
              </a:rPr>
              <a:t>+ k-means + SVM: </a:t>
            </a:r>
            <a:r>
              <a:rPr lang="vi-VN" dirty="0" smtClean="0">
                <a:latin typeface="Times New Roman" pitchFamily="18" charset="0"/>
                <a:cs typeface="Times New Roman" pitchFamily="18" charset="0"/>
              </a:rPr>
              <a:t>97.03 %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Iz rezultata se vidi da predloženi model postiže najveću tačnost medju uporednim tehnikama.</a:t>
            </a: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Konkurentne metode uglavnom ne koriste prilagodljivo poboljšanje kontrasta ili se oslanjaju na jednostavnije verzije k-means segmentacije.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Ograničenja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rada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Dataset je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sniman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kontrolisanim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uslovima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stabilnom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osvjetljenju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rezultati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možda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ne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važe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realnim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poljoprivrednim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scenama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CLAHE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može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pojačati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šum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tamnim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regi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jama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slike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što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otežava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dalju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segmentaciju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smtClean="0">
                <a:latin typeface="Times New Roman" pitchFamily="18" charset="0"/>
                <a:cs typeface="Times New Roman" pitchFamily="18" charset="0"/>
              </a:rPr>
              <a:t>K-means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je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osjetljiv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početne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vrijednosti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centroida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ne garantuje optimalno izdvajanje oboljelih područja u slučaju složenijih slika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SVM je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vrlo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efikasan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mali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može izgubiti efikasnost ukoliko se poveća broj klasa ili različitost podataka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>
                <a:latin typeface="Times New Roman" pitchFamily="18" charset="0"/>
                <a:cs typeface="Times New Roman" pitchFamily="18" charset="0"/>
              </a:rPr>
              <a:t>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radu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 smtClean="0">
                <a:latin typeface="Times New Roman" pitchFamily="18" charset="0"/>
                <a:cs typeface="Times New Roman" pitchFamily="18" charset="0"/>
              </a:rPr>
              <a:t>nisu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detaljno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analizirane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metrike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kao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što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F1-score,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matrica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konfuzije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ili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ROC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krive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Times New Roman" pitchFamily="18" charset="0"/>
                <a:cs typeface="Times New Roman" pitchFamily="18" charset="0"/>
              </a:rPr>
              <a:t>Moguća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poboljšanja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Proširenje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skupa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podataka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slikama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snimljenim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realnim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uslovima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različita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osvjetljenja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pozadine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, faze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rasta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Uvođenje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naprednih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dubokih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arhitektura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npr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.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EfficientNet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)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precizniju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segmentaciju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klasifikaciju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Detaljnija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evaluacija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pomoću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dodatnih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metrika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analiza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grešaka</a:t>
            </a:r>
            <a:r>
              <a:rPr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dirty="0" err="1">
                <a:latin typeface="Times New Roman" pitchFamily="18" charset="0"/>
                <a:cs typeface="Times New Roman" pitchFamily="18" charset="0"/>
              </a:rPr>
              <a:t>Terenska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testiranja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sistema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razvoj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praktičnih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softverskih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mobilnih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aplikacija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za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dirty="0" err="1">
                <a:latin typeface="Times New Roman" pitchFamily="18" charset="0"/>
                <a:cs typeface="Times New Roman" pitchFamily="18" charset="0"/>
              </a:rPr>
              <a:t>poljoprivrednike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Zaključak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Bolesti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lišća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čilija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predstavljaju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važan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problem 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poljoprivredi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Kombinacija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CLAHE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 za poboljšanje kontrasta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k-means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segmentacije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 SVM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klasifikacije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pokazala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vrlo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uspješnom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Klasične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dobru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predobradu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slika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mogu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takmiče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modernim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dubokim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modelima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specifičnim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uslovima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Glavna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ograničenja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mali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kontrolisan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dataset 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nedostatak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testiranja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realnom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okruženju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Dalji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rad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treba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da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uključi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veće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raznovrsnije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dataset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terenska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testiranja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potencijalnu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primjenu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dubokih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neuronskih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mreža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Prijedlog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projekta</a:t>
            </a:r>
            <a:endParaRPr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>
                <a:latin typeface="Times New Roman" pitchFamily="18" charset="0"/>
                <a:cs typeface="Times New Roman" pitchFamily="18" charset="0"/>
              </a:rPr>
              <a:t>Cilj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projekta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implementirati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model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koji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ponavlja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metodologiju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istraživačkog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korišćenjem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Kaggle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dataseta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Buduće </a:t>
            </a:r>
            <a:r>
              <a:rPr lang="sr-Latn-RS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orišćene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klase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projek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zdravo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lišće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lišće zaraženo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pepelnic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lišće zaraženo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plamenjač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om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Provjerava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koliko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se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rezultati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iz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naučnog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rada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mogu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ponoviti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praksi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odabranim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kategorijama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sr-Latn-R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4455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Planirane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metode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sr-Latn-RS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CLAHE –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poboljšanje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kontrasta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k-means –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segmentacija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izdvajanje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ROI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sr-Latn-RS" dirty="0" smtClean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SVM –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klasifikacija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slika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u tri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klase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Wingdings" pitchFamily="2" charset="2"/>
              <a:buChar char="v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Poseban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akcenat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biće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na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vizuelizaciji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segmentacije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i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evaluaciji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postignute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tačnosti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684</Words>
  <Application>Microsoft Office PowerPoint</Application>
  <PresentationFormat>On-screen Show (4:3)</PresentationFormat>
  <Paragraphs>184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Identifikacija bolesti lišća čilija korišćenjem CLAHE i k-srednjih vrijednosti</vt:lpstr>
      <vt:lpstr>Sadržaj</vt:lpstr>
      <vt:lpstr>Uvod</vt:lpstr>
      <vt:lpstr>Problem i motivacija</vt:lpstr>
      <vt:lpstr>PowerPoint Presentation</vt:lpstr>
      <vt:lpstr>PowerPoint Presentation</vt:lpstr>
      <vt:lpstr>Cilj i doprinos rada</vt:lpstr>
      <vt:lpstr>Pregled istraživačkog rada</vt:lpstr>
      <vt:lpstr>PowerPoint Presentation</vt:lpstr>
      <vt:lpstr>Metode</vt:lpstr>
      <vt:lpstr>CLAHE</vt:lpstr>
      <vt:lpstr>K-means</vt:lpstr>
      <vt:lpstr>SVM</vt:lpstr>
      <vt:lpstr>Analiza rezultata</vt:lpstr>
      <vt:lpstr>PowerPoint Presentation</vt:lpstr>
      <vt:lpstr>Ograničenja rada</vt:lpstr>
      <vt:lpstr>Moguća poboljšanja</vt:lpstr>
      <vt:lpstr>Zaključak</vt:lpstr>
      <vt:lpstr>Prijedlog projekta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Identifikacija bolesti listova čilija korišćenjem CLAHE i k-srednjih vrijednosti</dc:title>
  <dc:subject/>
  <dc:creator/>
  <cp:keywords/>
  <dc:description>generated using python-pptx</dc:description>
  <cp:lastModifiedBy>Igor Banovic</cp:lastModifiedBy>
  <cp:revision>21</cp:revision>
  <dcterms:created xsi:type="dcterms:W3CDTF">2013-01-27T09:14:16Z</dcterms:created>
  <dcterms:modified xsi:type="dcterms:W3CDTF">2025-12-16T20:26:37Z</dcterms:modified>
  <cp:category/>
</cp:coreProperties>
</file>